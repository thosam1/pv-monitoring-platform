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bold.fntdata"/><Relationship Id="rId14" Type="http://schemas.openxmlformats.org/officeDocument/2006/relationships/slide" Target="slides/slide8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1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7d43142a_2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ad7d43142a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7d43142a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d7d43142a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7d43142a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d7d43142a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Prioritizing was most </a:t>
            </a:r>
            <a:r>
              <a:rPr lang="en-GB"/>
              <a:t>important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d7d43142a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d7d43142a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7d43142a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d7d43142a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7d43142a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d7d43142a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7d43142a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d7d43142a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7d43142a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d7d43142a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d7d43142a_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d7d43142a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d7d43142a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ad7d43142a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d7d43142a_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ad7d43142a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d7d43142a_7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d7d43142a_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d7d43142a_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d7d43142a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d7d43142a_7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ad7d43142a_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d7d43142a_7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ad7d43142a_7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d7d43142a_7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ad7d43142a_7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7d43142a_7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d7d43142a_7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d7d43142a_7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ad7d43142a_7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d7d43142a_2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ad7d43142a_2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d7d43142a_7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ad7d43142a_7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d7d43142a_7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d7d43142a_7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d7d43142a_7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ad7d43142a_7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d7d43142a_7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d7d43142a_7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d7d43142a_2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d7d43142a_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d7d43142a_7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ad7d43142a_7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7d43142a_7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ad7d43142a_7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d7d43142a_7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ad7d43142a_7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d7d43142a_2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ad7d43142a_2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d7d43142a_2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ad7d43142a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1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7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25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5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5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PV Monitoring Platform</a:t>
            </a:r>
            <a:endParaRPr/>
          </a:p>
        </p:txBody>
      </p:sp>
      <p:sp>
        <p:nvSpPr>
          <p:cNvPr id="117" name="Google Shape;117;p26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en-GB" sz="1600"/>
              <a:t>MVP delivery for Ingestion, Normalization, and AI-First UX</a:t>
            </a:r>
            <a:endParaRPr i="1" sz="1600"/>
          </a:p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591675" y="381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600"/>
              <a:t>Presentation by Thösam Norlha-Tsang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Scalable PV Monitoring &amp; AI Analytics</a:t>
            </a:r>
            <a:endParaRPr b="1"/>
          </a:p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Scope: 10–20 PV dataloggers (different vendors, structures, quirks)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Task - design and implement: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Ingestion Layer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Abstraction &amp; Cleanup Layer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Monitoring View + AI Interaction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Deployment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0. Road Map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Roadmap </a:t>
            </a:r>
            <a:endParaRPr b="1"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High-Level Architecture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Data Flow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Handling Messy Data (Ingestion)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AI Agent (LangGraph)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AI-First User Experience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Demo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Learnings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Q&amp;A</a:t>
            </a:r>
            <a:endParaRPr/>
          </a:p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GB"/>
              <a:t>High-Level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High-Level Architecture</a:t>
            </a:r>
            <a:endParaRPr b="1"/>
          </a:p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152475"/>
            <a:ext cx="533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Key Points</a:t>
            </a:r>
            <a:r>
              <a:rPr lang="en-GB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Three-Tier Design</a:t>
            </a:r>
            <a:r>
              <a:rPr lang="en-GB"/>
              <a:t>: Clear separation of concerns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Backend (NestJS)</a:t>
            </a:r>
            <a:r>
              <a:rPr lang="en-GB"/>
              <a:t>: Type safety, modularity, robust API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AI Service (Python/FastMCP)</a:t>
            </a:r>
            <a:r>
              <a:rPr lang="en-GB"/>
              <a:t>: Dedicated environment for data science tools (Pandas/NumPy)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Frontend (React + Vite):</a:t>
            </a:r>
            <a:r>
              <a:rPr lang="en-GB"/>
              <a:t> Fast, reactive UX with shadcn/ui</a:t>
            </a:r>
            <a:endParaRPr/>
          </a:p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750" y="152400"/>
            <a:ext cx="287706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2. </a:t>
            </a:r>
            <a:r>
              <a:rPr lang="en-GB"/>
              <a:t>The Data 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The Data Flow</a:t>
            </a:r>
            <a:endParaRPr b="1"/>
          </a:p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>
            <a:off x="311700" y="1152475"/>
            <a:ext cx="8520600" cy="1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Key Points</a:t>
            </a:r>
            <a:r>
              <a:rPr lang="en-GB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Files → Ingestion Pipeline → Normalized Storage (PostgreSQL)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User → Chat Interface → LangGraph Orchestrator → Tools → Database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Design Decision: </a:t>
            </a:r>
            <a:r>
              <a:rPr lang="en-GB"/>
              <a:t>Real-time feedback via SSE (Server-Sent Events)</a:t>
            </a:r>
            <a:endParaRPr/>
          </a:p>
        </p:txBody>
      </p:sp>
      <p:sp>
        <p:nvSpPr>
          <p:cNvPr id="167" name="Google Shape;16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8" name="Google Shape;1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563" y="2967475"/>
            <a:ext cx="7426877" cy="187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3. </a:t>
            </a:r>
            <a:r>
              <a:rPr lang="en-GB"/>
              <a:t>Handling Messy Data (Ingestion)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The Parsing Strategy</a:t>
            </a:r>
            <a:endParaRPr b="1"/>
          </a:p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1152475"/>
            <a:ext cx="85206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Challenge: </a:t>
            </a:r>
            <a:r>
              <a:rPr lang="en-GB"/>
              <a:t>8+ formats (XML, SQLite, CSV, Text), inconsistent headers.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Solution: </a:t>
            </a:r>
            <a:r>
              <a:rPr lang="en-GB"/>
              <a:t>Specificity-First Strategy Pattern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D</a:t>
            </a:r>
            <a:r>
              <a:rPr lang="en-GB" sz="1800"/>
              <a:t>etects file</a:t>
            </a:r>
            <a:r>
              <a:rPr lang="en-GB" sz="1800"/>
              <a:t> type by content (magic bytes), not just extension 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Easily extensible (Open-Closed Principle)</a:t>
            </a:r>
            <a:endParaRPr sz="1800"/>
          </a:p>
        </p:txBody>
      </p:sp>
      <p:sp>
        <p:nvSpPr>
          <p:cNvPr id="180" name="Google Shape;18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338" y="2729275"/>
            <a:ext cx="5489331" cy="210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Data Abstraction &amp; Storage</a:t>
            </a:r>
            <a:endParaRPr b="1"/>
          </a:p>
        </p:txBody>
      </p:sp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311700" y="1152475"/>
            <a:ext cx="6353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Design Decision: Hybrid Schema. </a:t>
            </a:r>
            <a:endParaRPr b="1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Columns: </a:t>
            </a:r>
            <a:r>
              <a:rPr lang="en-GB" sz="1800"/>
              <a:t>"Golden Metrics" (Power, Energy) for fast SQL aggregation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JSONB: </a:t>
            </a:r>
            <a:r>
              <a:rPr lang="en-GB" sz="1800"/>
              <a:t>Metadata column for vendor-specific quirks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MVP Implementation: </a:t>
            </a:r>
            <a:r>
              <a:rPr lang="en-GB"/>
              <a:t>Synchronous processing with `AsyncGenerator` (memory efficient)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Future Improvement: </a:t>
            </a:r>
            <a:r>
              <a:rPr lang="en-GB"/>
              <a:t>Message Queue (RabbitMQ/BullMQ) for asynchronous bulk processing</a:t>
            </a:r>
            <a:endParaRPr/>
          </a:p>
        </p:txBody>
      </p:sp>
      <p:sp>
        <p:nvSpPr>
          <p:cNvPr id="188" name="Google Shape;18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625" y="1328000"/>
            <a:ext cx="2167575" cy="24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4. </a:t>
            </a:r>
            <a:r>
              <a:rPr lang="en-GB"/>
              <a:t>The AI Agent (LangGraph)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Orchestration vs. Chatbot</a:t>
            </a:r>
            <a:endParaRPr b="1"/>
          </a:p>
        </p:txBody>
      </p:sp>
      <p:sp>
        <p:nvSpPr>
          <p:cNvPr id="200" name="Google Shape;20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Concept: </a:t>
            </a:r>
            <a:r>
              <a:rPr lang="en-GB"/>
              <a:t>Deterministic Graphs over probabilistic chaos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Structure:</a:t>
            </a:r>
            <a:r>
              <a:rPr b="1" lang="en-GB"/>
              <a:t>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Explicit Flows: </a:t>
            </a:r>
            <a:r>
              <a:rPr lang="en-GB" sz="1800"/>
              <a:t>Morning Briefing, Financial Report (Strict steps)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Free Chat:</a:t>
            </a:r>
            <a:r>
              <a:rPr lang="en-GB" sz="1800"/>
              <a:t> LLM Loop (Flexible fallback)</a:t>
            </a:r>
            <a:endParaRPr sz="1800"/>
          </a:p>
        </p:txBody>
      </p:sp>
      <p:sp>
        <p:nvSpPr>
          <p:cNvPr id="201" name="Google Shape;20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Orchestration vs. Chatbot</a:t>
            </a:r>
            <a:endParaRPr b="1"/>
          </a:p>
        </p:txBody>
      </p:sp>
      <p:sp>
        <p:nvSpPr>
          <p:cNvPr id="207" name="Google Shape;20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63" y="1151800"/>
            <a:ext cx="786468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Intelligent Routing</a:t>
            </a:r>
            <a:endParaRPr b="1"/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Optimization: </a:t>
            </a:r>
            <a:r>
              <a:rPr lang="en-GB"/>
              <a:t>Two-Tier Classification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GB"/>
              <a:t>Regex (Tier 1): </a:t>
            </a:r>
            <a:r>
              <a:rPr lang="en-GB"/>
              <a:t>Zero latency for greetings/patterns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GB"/>
              <a:t>LLM (Tier 2): </a:t>
            </a:r>
            <a:r>
              <a:rPr lang="en-GB"/>
              <a:t>Semantic understanding for complex intents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Benefit</a:t>
            </a:r>
            <a:r>
              <a:rPr lang="en-GB"/>
              <a:t>: Reduces cost and latency; increases reliability</a:t>
            </a:r>
            <a:endParaRPr/>
          </a:p>
        </p:txBody>
      </p:sp>
      <p:sp>
        <p:nvSpPr>
          <p:cNvPr id="215" name="Google Shape;21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Intelligent Routing</a:t>
            </a:r>
            <a:endParaRPr b="1"/>
          </a:p>
        </p:txBody>
      </p:sp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2" name="Google Shape;2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0875" y="169876"/>
            <a:ext cx="4935077" cy="48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Resilience &amp; Recovery</a:t>
            </a:r>
            <a:endParaRPr b="1"/>
          </a:p>
        </p:txBody>
      </p:sp>
      <p:sp>
        <p:nvSpPr>
          <p:cNvPr id="228" name="Google Shape;228;p43"/>
          <p:cNvSpPr txBox="1"/>
          <p:nvPr>
            <p:ph idx="1" type="body"/>
          </p:nvPr>
        </p:nvSpPr>
        <p:spPr>
          <a:xfrm>
            <a:off x="311700" y="1152475"/>
            <a:ext cx="445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Problem: LLMs hallucinate when data is missing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Solution: </a:t>
            </a:r>
            <a:r>
              <a:rPr lang="en-GB"/>
              <a:t>Standardized Tool Status Codes (`no_data_in_window`, `error`)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Agent triggers </a:t>
            </a:r>
            <a:r>
              <a:rPr b="1" lang="en-GB" sz="1800"/>
              <a:t>Interactive Recovery</a:t>
            </a:r>
            <a:r>
              <a:rPr lang="en-GB" sz="1800"/>
              <a:t> (e.g., rendering a Date Picker) 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Prevents "I don't know" dead-ends</a:t>
            </a:r>
            <a:endParaRPr sz="1800"/>
          </a:p>
        </p:txBody>
      </p:sp>
      <p:sp>
        <p:nvSpPr>
          <p:cNvPr id="229" name="Google Shape;22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0" name="Google Shape;2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100" y="132926"/>
            <a:ext cx="3747125" cy="487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5. </a:t>
            </a:r>
            <a:r>
              <a:rPr lang="en-GB"/>
              <a:t>AI-First User Experience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The "Glass Box" Approach</a:t>
            </a:r>
            <a:endParaRPr b="1"/>
          </a:p>
        </p:txBody>
      </p:sp>
      <p:sp>
        <p:nvSpPr>
          <p:cNvPr id="241" name="Google Shape;241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Philosophy: </a:t>
            </a:r>
            <a:r>
              <a:rPr lang="en-GB"/>
              <a:t>Don't hide the work. Show the user </a:t>
            </a:r>
            <a:r>
              <a:rPr i="1" lang="en-GB"/>
              <a:t>what</a:t>
            </a:r>
            <a:r>
              <a:rPr lang="en-GB"/>
              <a:t> the AI is doing.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Tool Categories:</a:t>
            </a:r>
            <a:endParaRPr b="1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Hidden:</a:t>
            </a:r>
            <a:r>
              <a:rPr lang="en-GB" sz="1800"/>
              <a:t> Heavy math/data fetching (shown as status indicators)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Visible</a:t>
            </a:r>
            <a:r>
              <a:rPr lang="en-GB" sz="1800"/>
              <a:t>: Charts, Selection Prompts, Reports (Rendered Inline)</a:t>
            </a:r>
            <a:endParaRPr sz="1800"/>
          </a:p>
        </p:txBody>
      </p:sp>
      <p:sp>
        <p:nvSpPr>
          <p:cNvPr id="242" name="Google Shape;24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8" name="Google Shape;2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163" y="143437"/>
            <a:ext cx="7367675" cy="48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Explicit Flows UX</a:t>
            </a:r>
            <a:endParaRPr b="1"/>
          </a:p>
        </p:txBody>
      </p:sp>
      <p:sp>
        <p:nvSpPr>
          <p:cNvPr id="254" name="Google Shape;254;p47"/>
          <p:cNvSpPr txBox="1"/>
          <p:nvPr>
            <p:ph idx="1" type="body"/>
          </p:nvPr>
        </p:nvSpPr>
        <p:spPr>
          <a:xfrm>
            <a:off x="311700" y="1152475"/>
            <a:ext cx="3285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Morning Briefing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Health Check</a:t>
            </a:r>
            <a:endParaRPr/>
          </a:p>
        </p:txBody>
      </p:sp>
      <p:sp>
        <p:nvSpPr>
          <p:cNvPr id="255" name="Google Shape;25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6" name="Google Shape;2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002" y="0"/>
            <a:ext cx="123229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900" y="0"/>
            <a:ext cx="18995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Explicit Flows UX</a:t>
            </a:r>
            <a:endParaRPr b="1"/>
          </a:p>
        </p:txBody>
      </p:sp>
      <p:sp>
        <p:nvSpPr>
          <p:cNvPr id="263" name="Google Shape;263;p48"/>
          <p:cNvSpPr txBox="1"/>
          <p:nvPr>
            <p:ph idx="1" type="body"/>
          </p:nvPr>
        </p:nvSpPr>
        <p:spPr>
          <a:xfrm>
            <a:off x="311700" y="1152475"/>
            <a:ext cx="3285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</a:t>
            </a:r>
            <a:r>
              <a:rPr lang="en-GB"/>
              <a:t>Financial Report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4. Performance Audit</a:t>
            </a:r>
            <a:endParaRPr/>
          </a:p>
        </p:txBody>
      </p:sp>
      <p:sp>
        <p:nvSpPr>
          <p:cNvPr id="264" name="Google Shape;26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5" name="Google Shape;2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000" y="0"/>
            <a:ext cx="13444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920" y="0"/>
            <a:ext cx="34022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6. Demo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Explicit Flows UX</a:t>
            </a:r>
            <a:endParaRPr b="1"/>
          </a:p>
        </p:txBody>
      </p:sp>
      <p:sp>
        <p:nvSpPr>
          <p:cNvPr id="277" name="Google Shape;27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Demo Checklist:</a:t>
            </a:r>
            <a:endParaRPr b="1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Ingest "messy" folder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"Morning Briefing" (See the graph action)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</a:t>
            </a:r>
            <a:r>
              <a:rPr lang="en-GB"/>
              <a:t>i</a:t>
            </a:r>
            <a:r>
              <a:rPr lang="en-GB"/>
              <a:t>gger Error Recovery (Date Selection)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4. Perform "Performance Audit" (Multi-logger comparison)</a:t>
            </a:r>
            <a:endParaRPr sz="1800"/>
          </a:p>
        </p:txBody>
      </p:sp>
      <p:sp>
        <p:nvSpPr>
          <p:cNvPr id="278" name="Google Shape;27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7. Learnings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Learnings: Technologies &amp; Workflow</a:t>
            </a:r>
            <a:endParaRPr b="1"/>
          </a:p>
        </p:txBody>
      </p:sp>
      <p:sp>
        <p:nvSpPr>
          <p:cNvPr id="289" name="Google Shape;28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Acceleration:</a:t>
            </a:r>
            <a:r>
              <a:rPr lang="en-GB"/>
              <a:t> Used Claude Code &amp; MCP for rapid API integration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Quality: </a:t>
            </a:r>
            <a:r>
              <a:rPr lang="en-GB"/>
              <a:t>SonarQube for code quality checks 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Flexibility: </a:t>
            </a:r>
            <a:r>
              <a:rPr lang="en-GB"/>
              <a:t>System supports swapping providers (Gemini, OpenAI, Ollama/Local) via simple ENV vars</a:t>
            </a:r>
            <a:endParaRPr sz="1800"/>
          </a:p>
        </p:txBody>
      </p:sp>
      <p:sp>
        <p:nvSpPr>
          <p:cNvPr id="290" name="Google Shape;29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8. </a:t>
            </a:r>
            <a:r>
              <a:rPr lang="en-GB"/>
              <a:t>Q&amp;A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7200"/>
              <a:t>Thank you !</a:t>
            </a:r>
            <a:endParaRPr sz="7200"/>
          </a:p>
        </p:txBody>
      </p:sp>
      <p:sp>
        <p:nvSpPr>
          <p:cNvPr id="301" name="Google Shape;301;p54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/>
              <a:t>(and Q&amp;A)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